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226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0F3438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4206240"/>
            <a:ext cx="2926080" cy="2926080"/>
          </a:xfrm>
          <a:prstGeom prst="ellipse">
            <a:avLst/>
          </a:prstGeom>
          <a:solidFill>
            <a:srgbClr val="0F343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960120"/>
            <a:ext cx="777240" cy="777240"/>
          </a:xfrm>
          <a:prstGeom prst="ellipse">
            <a:avLst/>
          </a:prstGeom>
          <a:solidFill>
            <a:srgbClr val="1CA89F"/>
          </a:solidFill>
          <a:ln/>
        </p:spPr>
      </p:sp>
      <p:pic>
        <p:nvPicPr>
          <p:cNvPr id="6" name="Image 0" descr="/home/claude/locallens/icon_marke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839" y="113499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874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LocalLens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needs. Everywhere.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22960" y="34290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7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online marketplaces and nearby local shops in one search — then let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7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match, summarize, and recommend the best deal for you.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Shopping. Stronger Local Communities.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BF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D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229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Shopping today is split in two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juggle marketplace apps and neighborhood stores separately — with no easy way to compare price, speed, and trust across both.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5134356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  <a:effectLst>
            <a:outerShdw sx="100000" sy="100000" kx="0" ky="0" algn="bl" rotWithShape="0" blurRad="127000" dist="38100" dir="5400000">
              <a:srgbClr val="9BB8B6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2697480"/>
            <a:ext cx="640080" cy="640080"/>
          </a:xfrm>
          <a:prstGeom prst="ellipse">
            <a:avLst/>
          </a:prstGeom>
          <a:solidFill>
            <a:srgbClr val="CFEFEC"/>
          </a:solidFill>
          <a:ln/>
        </p:spPr>
      </p:sp>
      <p:pic>
        <p:nvPicPr>
          <p:cNvPr id="8" name="Image 0" descr="/home/claude/locallens/icon_mobile_0D6E6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3020" y="28575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3474720"/>
            <a:ext cx="44028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Online-only shopping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143000" y="3931920"/>
            <a:ext cx="44028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selection, but blind to what's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nearby and ready today.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43000" y="4663440"/>
            <a:ext cx="44028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0F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can take days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43000" y="5047488"/>
            <a:ext cx="44028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0F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local sellers stay invisible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43000" y="5431536"/>
            <a:ext cx="44028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0F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are long and time-consuming to read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77356" y="2331720"/>
            <a:ext cx="5134356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  <a:effectLst>
            <a:outerShdw sx="100000" sy="100000" kx="0" ky="0" algn="bl" rotWithShape="0" blurRad="127000" dist="38100" dir="5400000">
              <a:srgbClr val="9BB8B6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643116" y="2697480"/>
            <a:ext cx="640080" cy="640080"/>
          </a:xfrm>
          <a:prstGeom prst="ellipse">
            <a:avLst/>
          </a:prstGeom>
          <a:solidFill>
            <a:srgbClr val="CFEFEC"/>
          </a:solidFill>
          <a:ln/>
        </p:spPr>
      </p:sp>
      <p:pic>
        <p:nvPicPr>
          <p:cNvPr id="16" name="Image 1" descr="/home/claude/locallens/icon_store_0D6E6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36" y="285750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643116" y="3474720"/>
            <a:ext cx="44028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Local-only shopping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6643116" y="3931920"/>
            <a:ext cx="44028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personal, but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discover and hard to compare.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643116" y="4663440"/>
            <a:ext cx="44028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0F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search across shops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643116" y="5047488"/>
            <a:ext cx="44028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0F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aren't easy to compare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643116" y="5431536"/>
            <a:ext cx="44028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0F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businesses struggle to get found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C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226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F343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640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051560"/>
            <a:ext cx="5760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search. Every option.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and local, together.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describe what you need in plain language. LocalLens searches big online stores and nearby small shops at once, then ranks results with a personalized Match Score and an AI summary of the reviews.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4617720"/>
            <a:ext cx="5486400" cy="68580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/>
        </p:spPr>
      </p:sp>
      <p:pic>
        <p:nvPicPr>
          <p:cNvPr id="8" name="Image 0" descr="/home/claude/locallens/icon_search_0D6E6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48006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461772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earbuds under ₹2000, good bass, need it fast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96712" y="4718304"/>
            <a:ext cx="484632" cy="484632"/>
          </a:xfrm>
          <a:prstGeom prst="ellipse">
            <a:avLst/>
          </a:prstGeom>
          <a:solidFill>
            <a:srgbClr val="1CA89F"/>
          </a:solidFill>
          <a:ln/>
        </p:spPr>
      </p:sp>
      <p:sp>
        <p:nvSpPr>
          <p:cNvPr id="11" name="Shape 8"/>
          <p:cNvSpPr/>
          <p:nvPr/>
        </p:nvSpPr>
        <p:spPr>
          <a:xfrm>
            <a:off x="7040880" y="1005840"/>
            <a:ext cx="4343400" cy="822960"/>
          </a:xfrm>
          <a:prstGeom prst="roundRect">
            <a:avLst>
              <a:gd name="adj" fmla="val 11111"/>
            </a:avLst>
          </a:prstGeom>
          <a:solidFill>
            <a:srgbClr val="0F3438"/>
          </a:solidFill>
          <a:ln/>
        </p:spPr>
      </p:sp>
      <p:sp>
        <p:nvSpPr>
          <p:cNvPr id="12" name="Shape 9"/>
          <p:cNvSpPr/>
          <p:nvPr/>
        </p:nvSpPr>
        <p:spPr>
          <a:xfrm>
            <a:off x="7205472" y="1170432"/>
            <a:ext cx="493776" cy="493776"/>
          </a:xfrm>
          <a:prstGeom prst="ellipse">
            <a:avLst/>
          </a:prstGeom>
          <a:solidFill>
            <a:srgbClr val="0A4B47"/>
          </a:solidFill>
          <a:ln/>
        </p:spPr>
      </p:sp>
      <p:pic>
        <p:nvPicPr>
          <p:cNvPr id="13" name="Image 1" descr="/home/claude/locallens/icon_star_CFEFE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6572" y="1281532"/>
            <a:ext cx="271577" cy="27157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818120" y="11155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boAt Airdopes 141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818120" y="143560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C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4.3 · Online + Amazon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10469880" y="1252728"/>
            <a:ext cx="749808" cy="329184"/>
          </a:xfrm>
          <a:prstGeom prst="roundRect">
            <a:avLst>
              <a:gd name="adj" fmla="val 22222"/>
            </a:avLst>
          </a:prstGeom>
          <a:solidFill>
            <a:srgbClr val="1CA89F"/>
          </a:solidFill>
          <a:ln/>
        </p:spPr>
      </p:sp>
      <p:sp>
        <p:nvSpPr>
          <p:cNvPr id="17" name="Text 13"/>
          <p:cNvSpPr/>
          <p:nvPr/>
        </p:nvSpPr>
        <p:spPr>
          <a:xfrm>
            <a:off x="10469880" y="1252728"/>
            <a:ext cx="749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040880" y="1965960"/>
            <a:ext cx="4343400" cy="822960"/>
          </a:xfrm>
          <a:prstGeom prst="roundRect">
            <a:avLst>
              <a:gd name="adj" fmla="val 11111"/>
            </a:avLst>
          </a:prstGeom>
          <a:solidFill>
            <a:srgbClr val="0F3438"/>
          </a:solidFill>
          <a:ln/>
        </p:spPr>
      </p:sp>
      <p:sp>
        <p:nvSpPr>
          <p:cNvPr id="19" name="Shape 15"/>
          <p:cNvSpPr/>
          <p:nvPr/>
        </p:nvSpPr>
        <p:spPr>
          <a:xfrm>
            <a:off x="7205472" y="2130552"/>
            <a:ext cx="493776" cy="493776"/>
          </a:xfrm>
          <a:prstGeom prst="ellipse">
            <a:avLst/>
          </a:prstGeom>
          <a:solidFill>
            <a:srgbClr val="0A4B47"/>
          </a:solidFill>
          <a:ln/>
        </p:spPr>
      </p:sp>
      <p:pic>
        <p:nvPicPr>
          <p:cNvPr id="20" name="Image 2" descr="/home/claude/locallens/icon_store_CFEFE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6572" y="2241652"/>
            <a:ext cx="271577" cy="27157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818120" y="207568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Balaji Mobiles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7818120" y="239572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C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4.5 · Local · 1.2 km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10469880" y="2212848"/>
            <a:ext cx="749808" cy="329184"/>
          </a:xfrm>
          <a:prstGeom prst="roundRect">
            <a:avLst>
              <a:gd name="adj" fmla="val 22222"/>
            </a:avLst>
          </a:prstGeom>
          <a:solidFill>
            <a:srgbClr val="154C49"/>
          </a:solidFill>
          <a:ln/>
        </p:spPr>
      </p:sp>
      <p:sp>
        <p:nvSpPr>
          <p:cNvPr id="24" name="Text 19"/>
          <p:cNvSpPr/>
          <p:nvPr/>
        </p:nvSpPr>
        <p:spPr>
          <a:xfrm>
            <a:off x="10469880" y="2212848"/>
            <a:ext cx="749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7040880" y="2926080"/>
            <a:ext cx="4343400" cy="822960"/>
          </a:xfrm>
          <a:prstGeom prst="roundRect">
            <a:avLst>
              <a:gd name="adj" fmla="val 11111"/>
            </a:avLst>
          </a:prstGeom>
          <a:solidFill>
            <a:srgbClr val="0F3438"/>
          </a:solidFill>
          <a:ln/>
        </p:spPr>
      </p:sp>
      <p:sp>
        <p:nvSpPr>
          <p:cNvPr id="26" name="Shape 21"/>
          <p:cNvSpPr/>
          <p:nvPr/>
        </p:nvSpPr>
        <p:spPr>
          <a:xfrm>
            <a:off x="7205472" y="3090672"/>
            <a:ext cx="493776" cy="493776"/>
          </a:xfrm>
          <a:prstGeom prst="ellipse">
            <a:avLst/>
          </a:prstGeom>
          <a:solidFill>
            <a:srgbClr val="0A4B47"/>
          </a:solidFill>
          <a:ln/>
        </p:spPr>
      </p:sp>
      <p:pic>
        <p:nvPicPr>
          <p:cNvPr id="27" name="Image 3" descr="/home/claude/locallens/icon_store_CFEFE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6572" y="3201772"/>
            <a:ext cx="271577" cy="27157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818120" y="303580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pTron Bassbuds Pro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7818120" y="335584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C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4.1 · Online · Flipkart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10469880" y="3172968"/>
            <a:ext cx="749808" cy="329184"/>
          </a:xfrm>
          <a:prstGeom prst="roundRect">
            <a:avLst>
              <a:gd name="adj" fmla="val 22222"/>
            </a:avLst>
          </a:prstGeom>
          <a:solidFill>
            <a:srgbClr val="154C49"/>
          </a:solidFill>
          <a:ln/>
        </p:spPr>
      </p:sp>
      <p:sp>
        <p:nvSpPr>
          <p:cNvPr id="31" name="Text 25"/>
          <p:cNvSpPr/>
          <p:nvPr/>
        </p:nvSpPr>
        <p:spPr>
          <a:xfrm>
            <a:off x="10469880" y="3172968"/>
            <a:ext cx="749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BF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D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DIFFERENT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22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features, one seamless search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5088636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  <a:effectLst>
            <a:outerShdw sx="100000" sy="100000" kx="0" ky="0" algn="bl" rotWithShape="0" blurRad="101600" dist="25400" dir="5400000">
              <a:srgbClr val="9BB8B6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103120"/>
            <a:ext cx="713232" cy="713232"/>
          </a:xfrm>
          <a:prstGeom prst="ellipse">
            <a:avLst/>
          </a:prstGeom>
          <a:solidFill>
            <a:srgbClr val="1CA89F"/>
          </a:solidFill>
          <a:ln/>
        </p:spPr>
      </p:sp>
      <p:pic>
        <p:nvPicPr>
          <p:cNvPr id="7" name="Image 0" descr="/home/claude/locallens/icon_search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5588" y="2281428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075688"/>
            <a:ext cx="353415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F2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in Plain Language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2011680" y="2532888"/>
            <a:ext cx="353415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tell us what you need — no forms, no complex filters to fill out.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23076" y="1783080"/>
            <a:ext cx="5088636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  <a:effectLst>
            <a:outerShdw sx="100000" sy="100000" kx="0" ky="0" algn="bl" rotWithShape="0" blurRad="101600" dist="25400" dir="5400000">
              <a:srgbClr val="9BB8B6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43116" y="2103120"/>
            <a:ext cx="713232" cy="713232"/>
          </a:xfrm>
          <a:prstGeom prst="ellipse">
            <a:avLst/>
          </a:prstGeom>
          <a:solidFill>
            <a:srgbClr val="1CA89F"/>
          </a:solidFill>
          <a:ln/>
        </p:spPr>
      </p:sp>
      <p:pic>
        <p:nvPicPr>
          <p:cNvPr id="12" name="Image 1" descr="/home/claude/locallens/icon_lay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2281428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57516" y="2075688"/>
            <a:ext cx="353415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F2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+ Local, Together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7557516" y="2532888"/>
            <a:ext cx="353415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big online brands and nearby small shops in one unified place.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77240" y="4160520"/>
            <a:ext cx="5088636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  <a:effectLst>
            <a:outerShdw sx="100000" sy="100000" kx="0" ky="0" algn="bl" rotWithShape="0" blurRad="101600" dist="25400" dir="5400000">
              <a:srgbClr val="9BB8B6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097280" y="4480560"/>
            <a:ext cx="713232" cy="713232"/>
          </a:xfrm>
          <a:prstGeom prst="ellipse">
            <a:avLst/>
          </a:prstGeom>
          <a:solidFill>
            <a:srgbClr val="1CA89F"/>
          </a:solidFill>
          <a:ln/>
        </p:spPr>
      </p:sp>
      <p:pic>
        <p:nvPicPr>
          <p:cNvPr id="17" name="Image 2" descr="/home/claude/locallens/icon_targe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588" y="4658868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11680" y="4453128"/>
            <a:ext cx="353415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F2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Match Score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2011680" y="4910328"/>
            <a:ext cx="353415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ranked on what you actually care about — price, speed, or trust.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323076" y="4160520"/>
            <a:ext cx="5088636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  <a:effectLst>
            <a:outerShdw sx="100000" sy="100000" kx="0" ky="0" algn="bl" rotWithShape="0" blurRad="101600" dist="25400" dir="5400000">
              <a:srgbClr val="9BB8B6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43116" y="4480560"/>
            <a:ext cx="713232" cy="713232"/>
          </a:xfrm>
          <a:prstGeom prst="ellipse">
            <a:avLst/>
          </a:prstGeom>
          <a:solidFill>
            <a:srgbClr val="1CA89F"/>
          </a:solidFill>
          <a:ln/>
        </p:spPr>
      </p:sp>
      <p:pic>
        <p:nvPicPr>
          <p:cNvPr id="22" name="Image 3" descr="/home/claude/locallens/icon_magic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24" y="4658868"/>
            <a:ext cx="356616" cy="35661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57516" y="4453128"/>
            <a:ext cx="353415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F2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Summaries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7557516" y="4910328"/>
            <a:ext cx="353415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pros and cons instead of reading through hundreds of reviews.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C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BF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D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plain-language search to a confident decision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988820" y="2651760"/>
            <a:ext cx="8037576" cy="0"/>
          </a:xfrm>
          <a:prstGeom prst="line">
            <a:avLst/>
          </a:prstGeom>
          <a:noFill/>
          <a:ln w="25400">
            <a:solidFill>
              <a:srgbClr val="BFE0DD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485900" y="2148840"/>
            <a:ext cx="1005840" cy="1005840"/>
          </a:xfrm>
          <a:prstGeom prst="ellipse">
            <a:avLst/>
          </a:prstGeom>
          <a:solidFill>
            <a:srgbClr val="1CA89F"/>
          </a:solidFill>
          <a:ln/>
        </p:spPr>
      </p:sp>
      <p:pic>
        <p:nvPicPr>
          <p:cNvPr id="7" name="Image 0" descr="/home/claude/locallens/icon_search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7418" y="2410358"/>
            <a:ext cx="482803" cy="48280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25980" y="2039112"/>
            <a:ext cx="365760" cy="365760"/>
          </a:xfrm>
          <a:prstGeom prst="ellipse">
            <a:avLst/>
          </a:prstGeom>
          <a:solidFill>
            <a:srgbClr val="E8B84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125980" y="2039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33832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 your need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393192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“earbuds under ₹2000, good bass, need it fast”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165092" y="2148840"/>
            <a:ext cx="1005840" cy="1005840"/>
          </a:xfrm>
          <a:prstGeom prst="ellipse">
            <a:avLst/>
          </a:prstGeom>
          <a:solidFill>
            <a:srgbClr val="1CA89F"/>
          </a:solidFill>
          <a:ln/>
        </p:spPr>
      </p:sp>
      <p:pic>
        <p:nvPicPr>
          <p:cNvPr id="13" name="Image 1" descr="/home/claude/locallens/icon_lay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6610" y="2410358"/>
            <a:ext cx="482803" cy="482803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805172" y="2039112"/>
            <a:ext cx="365760" cy="365760"/>
          </a:xfrm>
          <a:prstGeom prst="ellipse">
            <a:avLst/>
          </a:prstGeom>
          <a:solidFill>
            <a:srgbClr val="E8B84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805172" y="2039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456432" y="33832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every match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456432" y="393192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stores and local shops appear side by side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844284" y="2148840"/>
            <a:ext cx="1005840" cy="1005840"/>
          </a:xfrm>
          <a:prstGeom prst="ellipse">
            <a:avLst/>
          </a:prstGeom>
          <a:solidFill>
            <a:srgbClr val="1CA89F"/>
          </a:solidFill>
          <a:ln/>
        </p:spPr>
      </p:sp>
      <p:pic>
        <p:nvPicPr>
          <p:cNvPr id="19" name="Image 2" descr="/home/claude/locallens/icon_slider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802" y="2410358"/>
            <a:ext cx="482803" cy="482803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7484364" y="2039112"/>
            <a:ext cx="365760" cy="365760"/>
          </a:xfrm>
          <a:prstGeom prst="ellipse">
            <a:avLst/>
          </a:prstGeom>
          <a:solidFill>
            <a:srgbClr val="E8B84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484364" y="2039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135624" y="33832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 ranking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135624" y="393192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price, rating, delivery speed, or local preference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9523476" y="2148840"/>
            <a:ext cx="1005840" cy="1005840"/>
          </a:xfrm>
          <a:prstGeom prst="ellipse">
            <a:avLst/>
          </a:prstGeom>
          <a:solidFill>
            <a:srgbClr val="1CA89F"/>
          </a:solidFill>
          <a:ln/>
        </p:spPr>
      </p:sp>
      <p:pic>
        <p:nvPicPr>
          <p:cNvPr id="25" name="Image 3" descr="/home/claude/locallens/icon_magic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994" y="2410358"/>
            <a:ext cx="482803" cy="482803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10163556" y="2039112"/>
            <a:ext cx="365760" cy="365760"/>
          </a:xfrm>
          <a:prstGeom prst="ellipse">
            <a:avLst/>
          </a:prstGeom>
          <a:solidFill>
            <a:srgbClr val="E8B84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10163556" y="2039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8814816" y="33832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 with AI summary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8814816" y="393192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pros, cons, and verdict in seconds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C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22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94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932688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decide what “best” means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four simple sliders and LocalLens instantly re-ranks every result — no two shoppers see the same order.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77240" y="2880360"/>
            <a:ext cx="457200" cy="457200"/>
          </a:xfrm>
          <a:prstGeom prst="ellipse">
            <a:avLst/>
          </a:prstGeom>
          <a:solidFill>
            <a:srgbClr val="0F3438"/>
          </a:solidFill>
          <a:ln/>
        </p:spPr>
      </p:sp>
      <p:pic>
        <p:nvPicPr>
          <p:cNvPr id="7" name="Image 0" descr="/home/claude/locallens/icon_tag_CFE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298323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8620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371600" y="31181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C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price is better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77240" y="3502152"/>
            <a:ext cx="457200" cy="457200"/>
          </a:xfrm>
          <a:prstGeom prst="ellipse">
            <a:avLst/>
          </a:prstGeom>
          <a:solidFill>
            <a:srgbClr val="0F3438"/>
          </a:solidFill>
          <a:ln/>
        </p:spPr>
      </p:sp>
      <p:pic>
        <p:nvPicPr>
          <p:cNvPr id="11" name="Image 1" descr="/home/claude/locallens/icon_star_CFEFE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110" y="3605022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34838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371600" y="37398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C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rating is better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77240" y="4123944"/>
            <a:ext cx="457200" cy="457200"/>
          </a:xfrm>
          <a:prstGeom prst="ellipse">
            <a:avLst/>
          </a:prstGeom>
          <a:solidFill>
            <a:srgbClr val="0F3438"/>
          </a:solidFill>
          <a:ln/>
        </p:spPr>
      </p:sp>
      <p:pic>
        <p:nvPicPr>
          <p:cNvPr id="15" name="Image 2" descr="/home/claude/locallens/icon_truck_CFEFE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4226814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410565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Speed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1371600" y="43616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C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is better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77240" y="4745736"/>
            <a:ext cx="457200" cy="457200"/>
          </a:xfrm>
          <a:prstGeom prst="ellipse">
            <a:avLst/>
          </a:prstGeom>
          <a:solidFill>
            <a:srgbClr val="0F3438"/>
          </a:solidFill>
          <a:ln/>
        </p:spPr>
      </p:sp>
      <p:pic>
        <p:nvPicPr>
          <p:cNvPr id="19" name="Image 3" descr="/home/claude/locallens/icon_marker_CFEFE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10" y="4848606"/>
            <a:ext cx="251460" cy="2514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4727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Preference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1371600" y="4983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C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shops score higher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858000" y="1051560"/>
            <a:ext cx="4572000" cy="507492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7223760" y="1325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Adjust what matters most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7223760" y="1920240"/>
            <a:ext cx="402336" cy="402336"/>
          </a:xfrm>
          <a:prstGeom prst="ellipse">
            <a:avLst/>
          </a:prstGeom>
          <a:solidFill>
            <a:srgbClr val="CFEFEC"/>
          </a:solidFill>
          <a:ln/>
        </p:spPr>
      </p:sp>
      <p:pic>
        <p:nvPicPr>
          <p:cNvPr id="25" name="Image 4" descr="/home/claude/locallens/icon_tag_0D6E6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4286" y="2010766"/>
            <a:ext cx="221285" cy="22128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772400" y="18653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10424160" y="186537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7223760" y="2377440"/>
            <a:ext cx="3840480" cy="82296"/>
          </a:xfrm>
          <a:prstGeom prst="roundRect">
            <a:avLst>
              <a:gd name="adj" fmla="val 55556"/>
            </a:avLst>
          </a:prstGeom>
          <a:solidFill>
            <a:srgbClr val="E4F1EF"/>
          </a:solidFill>
          <a:ln/>
        </p:spPr>
      </p:sp>
      <p:sp>
        <p:nvSpPr>
          <p:cNvPr id="29" name="Shape 22"/>
          <p:cNvSpPr/>
          <p:nvPr/>
        </p:nvSpPr>
        <p:spPr>
          <a:xfrm>
            <a:off x="7223760" y="2377440"/>
            <a:ext cx="3072384" cy="82296"/>
          </a:xfrm>
          <a:prstGeom prst="roundRect">
            <a:avLst>
              <a:gd name="adj" fmla="val 55556"/>
            </a:avLst>
          </a:prstGeom>
          <a:solidFill>
            <a:srgbClr val="1CA89F"/>
          </a:solidFill>
          <a:ln/>
        </p:spPr>
      </p:sp>
      <p:sp>
        <p:nvSpPr>
          <p:cNvPr id="30" name="Shape 23"/>
          <p:cNvSpPr/>
          <p:nvPr/>
        </p:nvSpPr>
        <p:spPr>
          <a:xfrm>
            <a:off x="10213848" y="2322576"/>
            <a:ext cx="192024" cy="1920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A89F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7223760" y="2880360"/>
            <a:ext cx="402336" cy="402336"/>
          </a:xfrm>
          <a:prstGeom prst="ellipse">
            <a:avLst/>
          </a:prstGeom>
          <a:solidFill>
            <a:srgbClr val="CFEFEC"/>
          </a:solidFill>
          <a:ln/>
        </p:spPr>
      </p:sp>
      <p:pic>
        <p:nvPicPr>
          <p:cNvPr id="32" name="Image 5" descr="/home/claude/locallens/icon_star_0D6E6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4286" y="2970886"/>
            <a:ext cx="221285" cy="22128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772400" y="282549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10424160" y="282549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7223760" y="3337560"/>
            <a:ext cx="3840480" cy="82296"/>
          </a:xfrm>
          <a:prstGeom prst="roundRect">
            <a:avLst>
              <a:gd name="adj" fmla="val 55556"/>
            </a:avLst>
          </a:prstGeom>
          <a:solidFill>
            <a:srgbClr val="E4F1EF"/>
          </a:solidFill>
          <a:ln/>
        </p:spPr>
      </p:sp>
      <p:sp>
        <p:nvSpPr>
          <p:cNvPr id="36" name="Shape 28"/>
          <p:cNvSpPr/>
          <p:nvPr/>
        </p:nvSpPr>
        <p:spPr>
          <a:xfrm>
            <a:off x="7223760" y="3337560"/>
            <a:ext cx="2688336" cy="82296"/>
          </a:xfrm>
          <a:prstGeom prst="roundRect">
            <a:avLst>
              <a:gd name="adj" fmla="val 55556"/>
            </a:avLst>
          </a:prstGeom>
          <a:solidFill>
            <a:srgbClr val="1CA89F"/>
          </a:solidFill>
          <a:ln/>
        </p:spPr>
      </p:sp>
      <p:sp>
        <p:nvSpPr>
          <p:cNvPr id="37" name="Shape 29"/>
          <p:cNvSpPr/>
          <p:nvPr/>
        </p:nvSpPr>
        <p:spPr>
          <a:xfrm>
            <a:off x="9829800" y="3282696"/>
            <a:ext cx="192024" cy="1920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A89F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7223760" y="3840480"/>
            <a:ext cx="402336" cy="402336"/>
          </a:xfrm>
          <a:prstGeom prst="ellipse">
            <a:avLst/>
          </a:prstGeom>
          <a:solidFill>
            <a:srgbClr val="CFEFEC"/>
          </a:solidFill>
          <a:ln/>
        </p:spPr>
      </p:sp>
      <p:pic>
        <p:nvPicPr>
          <p:cNvPr id="39" name="Image 6" descr="/home/claude/locallens/icon_truck_0D6E68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4286" y="3931006"/>
            <a:ext cx="221285" cy="221285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7772400" y="37856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Speed</a:t>
            </a:r>
            <a:endParaRPr lang="en-US" sz="1200" dirty="0"/>
          </a:p>
        </p:txBody>
      </p:sp>
      <p:sp>
        <p:nvSpPr>
          <p:cNvPr id="41" name="Text 32"/>
          <p:cNvSpPr/>
          <p:nvPr/>
        </p:nvSpPr>
        <p:spPr>
          <a:xfrm>
            <a:off x="10424160" y="37856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200" dirty="0"/>
          </a:p>
        </p:txBody>
      </p:sp>
      <p:sp>
        <p:nvSpPr>
          <p:cNvPr id="42" name="Shape 33"/>
          <p:cNvSpPr/>
          <p:nvPr/>
        </p:nvSpPr>
        <p:spPr>
          <a:xfrm>
            <a:off x="7223760" y="4297680"/>
            <a:ext cx="3840480" cy="82296"/>
          </a:xfrm>
          <a:prstGeom prst="roundRect">
            <a:avLst>
              <a:gd name="adj" fmla="val 55556"/>
            </a:avLst>
          </a:prstGeom>
          <a:solidFill>
            <a:srgbClr val="E4F1EF"/>
          </a:solidFill>
          <a:ln/>
        </p:spPr>
      </p:sp>
      <p:sp>
        <p:nvSpPr>
          <p:cNvPr id="43" name="Shape 34"/>
          <p:cNvSpPr/>
          <p:nvPr/>
        </p:nvSpPr>
        <p:spPr>
          <a:xfrm>
            <a:off x="7223760" y="4297680"/>
            <a:ext cx="3456432" cy="82296"/>
          </a:xfrm>
          <a:prstGeom prst="roundRect">
            <a:avLst>
              <a:gd name="adj" fmla="val 55556"/>
            </a:avLst>
          </a:prstGeom>
          <a:solidFill>
            <a:srgbClr val="1CA89F"/>
          </a:solidFill>
          <a:ln/>
        </p:spPr>
      </p:sp>
      <p:sp>
        <p:nvSpPr>
          <p:cNvPr id="44" name="Shape 35"/>
          <p:cNvSpPr/>
          <p:nvPr/>
        </p:nvSpPr>
        <p:spPr>
          <a:xfrm>
            <a:off x="10597896" y="4242816"/>
            <a:ext cx="192024" cy="1920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A89F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7223760" y="4800600"/>
            <a:ext cx="402336" cy="402336"/>
          </a:xfrm>
          <a:prstGeom prst="ellipse">
            <a:avLst/>
          </a:prstGeom>
          <a:solidFill>
            <a:srgbClr val="CFEFEC"/>
          </a:solidFill>
          <a:ln/>
        </p:spPr>
      </p:sp>
      <p:pic>
        <p:nvPicPr>
          <p:cNvPr id="46" name="Image 7" descr="/home/claude/locallens/icon_marker_0D6E6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4286" y="4891126"/>
            <a:ext cx="221285" cy="221285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7772400" y="47457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Preference</a:t>
            </a:r>
            <a:endParaRPr lang="en-US" sz="1200" dirty="0"/>
          </a:p>
        </p:txBody>
      </p:sp>
      <p:sp>
        <p:nvSpPr>
          <p:cNvPr id="48" name="Text 38"/>
          <p:cNvSpPr/>
          <p:nvPr/>
        </p:nvSpPr>
        <p:spPr>
          <a:xfrm>
            <a:off x="10424160" y="474573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200" dirty="0"/>
          </a:p>
        </p:txBody>
      </p:sp>
      <p:sp>
        <p:nvSpPr>
          <p:cNvPr id="49" name="Shape 39"/>
          <p:cNvSpPr/>
          <p:nvPr/>
        </p:nvSpPr>
        <p:spPr>
          <a:xfrm>
            <a:off x="7223760" y="5257800"/>
            <a:ext cx="3840480" cy="82296"/>
          </a:xfrm>
          <a:prstGeom prst="roundRect">
            <a:avLst>
              <a:gd name="adj" fmla="val 55556"/>
            </a:avLst>
          </a:prstGeom>
          <a:solidFill>
            <a:srgbClr val="E4F1EF"/>
          </a:solidFill>
          <a:ln/>
        </p:spPr>
      </p:sp>
      <p:sp>
        <p:nvSpPr>
          <p:cNvPr id="50" name="Shape 40"/>
          <p:cNvSpPr/>
          <p:nvPr/>
        </p:nvSpPr>
        <p:spPr>
          <a:xfrm>
            <a:off x="7223760" y="5257800"/>
            <a:ext cx="2304288" cy="82296"/>
          </a:xfrm>
          <a:prstGeom prst="roundRect">
            <a:avLst>
              <a:gd name="adj" fmla="val 55556"/>
            </a:avLst>
          </a:prstGeom>
          <a:solidFill>
            <a:srgbClr val="1CA89F"/>
          </a:solidFill>
          <a:ln/>
        </p:spPr>
      </p:sp>
      <p:sp>
        <p:nvSpPr>
          <p:cNvPr id="51" name="Shape 41"/>
          <p:cNvSpPr/>
          <p:nvPr/>
        </p:nvSpPr>
        <p:spPr>
          <a:xfrm>
            <a:off x="9445752" y="5202936"/>
            <a:ext cx="192024" cy="1920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A89F"/>
            </a:solidFill>
            <a:prstDash val="solid"/>
          </a:ln>
        </p:spPr>
      </p:sp>
      <p:sp>
        <p:nvSpPr>
          <p:cNvPr id="52" name="Shape 42"/>
          <p:cNvSpPr/>
          <p:nvPr/>
        </p:nvSpPr>
        <p:spPr>
          <a:xfrm>
            <a:off x="7223760" y="544068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0A2226"/>
          </a:solidFill>
          <a:ln/>
        </p:spPr>
      </p:sp>
      <p:sp>
        <p:nvSpPr>
          <p:cNvPr id="53" name="Text 43"/>
          <p:cNvSpPr/>
          <p:nvPr/>
        </p:nvSpPr>
        <p:spPr>
          <a:xfrm>
            <a:off x="7223760" y="5440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&amp; Refresh</a:t>
            </a:r>
            <a:endParaRPr lang="en-US" sz="1250" dirty="0"/>
          </a:p>
        </p:txBody>
      </p:sp>
      <p:sp>
        <p:nvSpPr>
          <p:cNvPr id="54" name="Text 4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BF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D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2296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listing comes with an AI verdict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4297680" cy="448056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  <a:effectLst>
            <a:outerShdw sx="100000" sy="100000" kx="0" ky="0" algn="bl" rotWithShape="0" blurRad="101600" dist="25400" dir="5400000">
              <a:srgbClr val="9BB8B6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01168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CFEFEC"/>
          </a:solidFill>
          <a:ln/>
        </p:spPr>
      </p:sp>
      <p:sp>
        <p:nvSpPr>
          <p:cNvPr id="7" name="Shape 5"/>
          <p:cNvSpPr/>
          <p:nvPr/>
        </p:nvSpPr>
        <p:spPr>
          <a:xfrm>
            <a:off x="2468880" y="22402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home/claude/locallens/icon_mobile_0D6E6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7480" y="2468880"/>
            <a:ext cx="457200" cy="457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97280" y="370332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D6EDE9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37033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OFF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097280" y="40873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boAt Airdopes 141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097280" y="4434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4.3  (52k reviews)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097280" y="47274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2D"/>
                </a:solidFill>
              </a:rPr>
              <a:t>₹1,799  </a:t>
            </a:r>
            <a:pPr indent="0" marL="0">
              <a:buNone/>
            </a:pPr>
            <a:r>
              <a:rPr lang="en-US" sz="1200" strike="sngStrike" dirty="0">
                <a:solidFill>
                  <a:srgbClr val="5B7A7C"/>
                </a:solidFill>
              </a:rPr>
              <a:t>₹2,499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097280" y="51480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Match · Online · Amazon · Delivers in 1 day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097280" y="5577840"/>
            <a:ext cx="3657600" cy="411480"/>
          </a:xfrm>
          <a:prstGeom prst="roundRect">
            <a:avLst>
              <a:gd name="adj" fmla="val 17778"/>
            </a:avLst>
          </a:prstGeom>
          <a:solidFill>
            <a:srgbClr val="0A2226"/>
          </a:solidFill>
          <a:ln/>
        </p:spPr>
      </p:sp>
      <p:sp>
        <p:nvSpPr>
          <p:cNvPr id="16" name="Text 13"/>
          <p:cNvSpPr/>
          <p:nvPr/>
        </p:nvSpPr>
        <p:spPr>
          <a:xfrm>
            <a:off x="1097280" y="5577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on Amazon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40680" y="1691640"/>
            <a:ext cx="5989320" cy="1600200"/>
          </a:xfrm>
          <a:prstGeom prst="roundRect">
            <a:avLst>
              <a:gd name="adj" fmla="val 6857"/>
            </a:avLst>
          </a:prstGeom>
          <a:solidFill>
            <a:srgbClr val="CFEFEC"/>
          </a:solidFill>
          <a:ln/>
        </p:spPr>
      </p:sp>
      <p:sp>
        <p:nvSpPr>
          <p:cNvPr id="18" name="Shape 15"/>
          <p:cNvSpPr/>
          <p:nvPr/>
        </p:nvSpPr>
        <p:spPr>
          <a:xfrm>
            <a:off x="5715000" y="194767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1" descr="/home/claude/locallens/icon_magic_0D6E6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7870" y="2050542"/>
            <a:ext cx="251460" cy="2514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309360" y="19476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Summary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715000" y="2377440"/>
            <a:ext cx="5440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0F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“Great sound and bass for the price. Long battery life and comfortable fit. Value for money, especially if you need it quickly.”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440680" y="3566160"/>
            <a:ext cx="281178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</p:spPr>
      </p:sp>
      <p:pic>
        <p:nvPicPr>
          <p:cNvPr id="23" name="Image 2" descr="/home/claude/locallens/icon_check_1E8E5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3840480"/>
            <a:ext cx="292608" cy="29260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099048" y="38221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5715000" y="4343400"/>
            <a:ext cx="22631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F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bass &amp; sound quality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5715000" y="4846320"/>
            <a:ext cx="22631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F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battery life (up to 42hrs)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5715000" y="5349240"/>
            <a:ext cx="22631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F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fit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8618220" y="3566160"/>
            <a:ext cx="281178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</p:spPr>
      </p:sp>
      <p:pic>
        <p:nvPicPr>
          <p:cNvPr id="29" name="Image 3" descr="/home/claude/locallens/icon_times_C24A3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2540" y="3840480"/>
            <a:ext cx="292608" cy="29260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276588" y="38221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8892540" y="4343400"/>
            <a:ext cx="22631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F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quality feels average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8892540" y="4846320"/>
            <a:ext cx="22631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F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ANC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C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BF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D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SMALL BUSINESSES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2296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neighborhood shop gets a storefront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owners list once and instantly appear in local search results — no website or tech skills required.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77240" y="210312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  <a:effectLst>
            <a:outerShdw sx="100000" sy="100000" kx="0" ky="0" algn="bl" rotWithShape="0" blurRad="101600" dist="25400" dir="5400000">
              <a:srgbClr val="9BB8B6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2377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Nearby Local Shops (3)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2926080"/>
            <a:ext cx="566928" cy="566928"/>
          </a:xfrm>
          <a:prstGeom prst="ellipse">
            <a:avLst/>
          </a:prstGeom>
          <a:solidFill>
            <a:srgbClr val="CFEFEC"/>
          </a:solidFill>
          <a:ln/>
        </p:spPr>
      </p:sp>
      <p:pic>
        <p:nvPicPr>
          <p:cNvPr id="9" name="Image 0" descr="/home/claude/locallens/icon_store_0D6E6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839" y="3053639"/>
            <a:ext cx="311810" cy="31181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0" y="290779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Balaji Mobiles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828800" y="3200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4.5 · 1.2 km · ₹1,999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480560" y="290779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DDF0E7"/>
          </a:solidFill>
          <a:ln/>
        </p:spPr>
      </p:sp>
      <p:sp>
        <p:nvSpPr>
          <p:cNvPr id="13" name="Text 10"/>
          <p:cNvSpPr/>
          <p:nvPr/>
        </p:nvSpPr>
        <p:spPr>
          <a:xfrm>
            <a:off x="4480560" y="290779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Local Deal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097280" y="3977640"/>
            <a:ext cx="566928" cy="566928"/>
          </a:xfrm>
          <a:prstGeom prst="ellipse">
            <a:avLst/>
          </a:prstGeom>
          <a:solidFill>
            <a:srgbClr val="CFEFEC"/>
          </a:solidFill>
          <a:ln/>
        </p:spPr>
      </p:sp>
      <p:pic>
        <p:nvPicPr>
          <p:cNvPr id="15" name="Image 1" descr="/home/claude/locallens/icon_store_0D6E6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839" y="4105199"/>
            <a:ext cx="311810" cy="31181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828800" y="395935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iWorld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828800" y="4251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4.2 · 2.8 km · ₹2,050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1097280" y="5029200"/>
            <a:ext cx="566928" cy="566928"/>
          </a:xfrm>
          <a:prstGeom prst="ellipse">
            <a:avLst/>
          </a:prstGeom>
          <a:solidFill>
            <a:srgbClr val="CFEFEC"/>
          </a:solidFill>
          <a:ln/>
        </p:spPr>
      </p:sp>
      <p:pic>
        <p:nvPicPr>
          <p:cNvPr id="19" name="Image 2" descr="/home/claude/locallens/icon_store_0D6E6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839" y="5156759"/>
            <a:ext cx="311810" cy="31181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828800" y="501091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Venkateshwara Electronics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828800" y="53035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4.1 · 3.5 km · ₹1,950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492240" y="2103120"/>
            <a:ext cx="4892040" cy="4297680"/>
          </a:xfrm>
          <a:prstGeom prst="roundRect">
            <a:avLst>
              <a:gd name="adj" fmla="val 2553"/>
            </a:avLst>
          </a:prstGeom>
          <a:solidFill>
            <a:srgbClr val="0A2226"/>
          </a:solidFill>
          <a:ln/>
        </p:spPr>
      </p:sp>
      <p:sp>
        <p:nvSpPr>
          <p:cNvPr id="23" name="Shape 18"/>
          <p:cNvSpPr/>
          <p:nvPr/>
        </p:nvSpPr>
        <p:spPr>
          <a:xfrm>
            <a:off x="6858000" y="2468880"/>
            <a:ext cx="658368" cy="658368"/>
          </a:xfrm>
          <a:prstGeom prst="ellipse">
            <a:avLst/>
          </a:prstGeom>
          <a:solidFill>
            <a:srgbClr val="1CA89F"/>
          </a:solidFill>
          <a:ln/>
        </p:spPr>
      </p:sp>
      <p:pic>
        <p:nvPicPr>
          <p:cNvPr id="24" name="Image 3" descr="/home/claude/locallens/icon_clipboar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2" y="2633472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680960" y="2487168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Want to list your shop?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7680960" y="283464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more people find your store.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6858000" y="3429000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C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Name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6858000" y="3630168"/>
            <a:ext cx="4160520" cy="274320"/>
          </a:xfrm>
          <a:prstGeom prst="roundRect">
            <a:avLst>
              <a:gd name="adj" fmla="val 20000"/>
            </a:avLst>
          </a:prstGeom>
          <a:solidFill>
            <a:srgbClr val="0F3438"/>
          </a:solidFill>
          <a:ln w="12700">
            <a:solidFill>
              <a:srgbClr val="1E5C58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858000" y="3959352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C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6858000" y="4160520"/>
            <a:ext cx="4160520" cy="274320"/>
          </a:xfrm>
          <a:prstGeom prst="roundRect">
            <a:avLst>
              <a:gd name="adj" fmla="val 20000"/>
            </a:avLst>
          </a:prstGeom>
          <a:solidFill>
            <a:srgbClr val="0F3438"/>
          </a:solidFill>
          <a:ln w="12700">
            <a:solidFill>
              <a:srgbClr val="1E5C58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858000" y="4489704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C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6858000" y="4690872"/>
            <a:ext cx="4160520" cy="274320"/>
          </a:xfrm>
          <a:prstGeom prst="roundRect">
            <a:avLst>
              <a:gd name="adj" fmla="val 20000"/>
            </a:avLst>
          </a:prstGeom>
          <a:solidFill>
            <a:srgbClr val="0F3438"/>
          </a:solidFill>
          <a:ln w="12700">
            <a:solidFill>
              <a:srgbClr val="1E5C58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6858000" y="5020056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C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(WhatsApp)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6858000" y="5221224"/>
            <a:ext cx="4160520" cy="274320"/>
          </a:xfrm>
          <a:prstGeom prst="roundRect">
            <a:avLst>
              <a:gd name="adj" fmla="val 20000"/>
            </a:avLst>
          </a:prstGeom>
          <a:solidFill>
            <a:srgbClr val="0F3438"/>
          </a:solidFill>
          <a:ln w="12700">
            <a:solidFill>
              <a:srgbClr val="1E5C58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6858000" y="5806440"/>
            <a:ext cx="4160520" cy="438912"/>
          </a:xfrm>
          <a:prstGeom prst="roundRect">
            <a:avLst>
              <a:gd name="adj" fmla="val 16667"/>
            </a:avLst>
          </a:prstGeom>
          <a:solidFill>
            <a:srgbClr val="1CA89F"/>
          </a:solidFill>
          <a:ln/>
        </p:spPr>
      </p:sp>
      <p:pic>
        <p:nvPicPr>
          <p:cNvPr id="36" name="Image 4" descr="/home/claude/locallens/icon_whatsapp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5870448"/>
            <a:ext cx="292608" cy="29260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858000" y="5806440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via WhatsApp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C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226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F3438"/>
          </a:solidFill>
          <a:ln/>
        </p:spPr>
      </p:sp>
      <p:sp>
        <p:nvSpPr>
          <p:cNvPr id="4" name="Shape 2"/>
          <p:cNvSpPr/>
          <p:nvPr/>
        </p:nvSpPr>
        <p:spPr>
          <a:xfrm>
            <a:off x="5682996" y="1051560"/>
            <a:ext cx="822960" cy="822960"/>
          </a:xfrm>
          <a:prstGeom prst="ellipse">
            <a:avLst/>
          </a:prstGeom>
          <a:solidFill>
            <a:srgbClr val="1CA89F"/>
          </a:solidFill>
          <a:ln/>
        </p:spPr>
      </p:sp>
      <p:pic>
        <p:nvPicPr>
          <p:cNvPr id="5" name="Image 0" descr="/home/claude/locallens/icon_marke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8162" y="123672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14884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deals. Closer to you.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914400" y="29260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LocalLens — smarter shopping, stronger local communities.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613916" y="3977640"/>
            <a:ext cx="731520" cy="731520"/>
          </a:xfrm>
          <a:prstGeom prst="ellipse">
            <a:avLst/>
          </a:prstGeom>
          <a:solidFill>
            <a:srgbClr val="0F3438"/>
          </a:solidFill>
          <a:ln/>
        </p:spPr>
      </p:sp>
      <p:pic>
        <p:nvPicPr>
          <p:cNvPr id="9" name="Image 1" descr="/home/claude/locallens/icon_search_CFEFE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796" y="41605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5236" y="4846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 Plain Language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357116" y="3977640"/>
            <a:ext cx="731520" cy="731520"/>
          </a:xfrm>
          <a:prstGeom prst="ellipse">
            <a:avLst/>
          </a:prstGeom>
          <a:solidFill>
            <a:srgbClr val="0F3438"/>
          </a:solidFill>
          <a:ln/>
        </p:spPr>
      </p:sp>
      <p:pic>
        <p:nvPicPr>
          <p:cNvPr id="12" name="Image 2" descr="/home/claude/locallens/icon_layers_CFEFE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996" y="41605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88436" y="4846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+ Local Together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7100316" y="3977640"/>
            <a:ext cx="731520" cy="731520"/>
          </a:xfrm>
          <a:prstGeom prst="ellipse">
            <a:avLst/>
          </a:prstGeom>
          <a:solidFill>
            <a:srgbClr val="0F3438"/>
          </a:solidFill>
          <a:ln/>
        </p:spPr>
      </p:sp>
      <p:pic>
        <p:nvPicPr>
          <p:cNvPr id="15" name="Image 3" descr="/home/claude/locallens/icon_target_CFEFE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3196" y="416052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231636" y="4846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Match Score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9843516" y="3977640"/>
            <a:ext cx="731520" cy="731520"/>
          </a:xfrm>
          <a:prstGeom prst="ellipse">
            <a:avLst/>
          </a:prstGeom>
          <a:solidFill>
            <a:srgbClr val="0F3438"/>
          </a:solidFill>
          <a:ln/>
        </p:spPr>
      </p:sp>
      <p:pic>
        <p:nvPicPr>
          <p:cNvPr id="18" name="Image 4" descr="/home/claude/locallens/icon_magic_CFEFE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6396" y="4160520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974836" y="4846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Summaries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4905756" y="594360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1CA89F"/>
          </a:solidFill>
          <a:ln/>
        </p:spPr>
      </p:sp>
      <p:sp>
        <p:nvSpPr>
          <p:cNvPr id="21" name="Text 14"/>
          <p:cNvSpPr/>
          <p:nvPr/>
        </p:nvSpPr>
        <p:spPr>
          <a:xfrm>
            <a:off x="4905756" y="5943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LocalLens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2026-09-20T08:55:32Z</dcterms:created>
  <dcterms:modified xsi:type="dcterms:W3CDTF">2026-09-20T08:55:32Z</dcterms:modified>
</cp:coreProperties>
</file>